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>
        <p:scale>
          <a:sx n="123" d="100"/>
          <a:sy n="123" d="100"/>
        </p:scale>
        <p:origin x="17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34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Panel"/>
          <p:cNvSpPr>
            <a:spLocks noGrp="1"/>
          </p:cNvSpPr>
          <p:nvPr/>
        </p:nvSpPr>
        <p:spPr>
          <a:xfrm>
            <a:off x="5320145" y="0"/>
            <a:ext cx="3458095" cy="68580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0" name="TrendTitle"/>
          <p:cNvSpPr>
            <a:spLocks noGrp="1"/>
          </p:cNvSpPr>
          <p:nvPr/>
        </p:nvSpPr>
        <p:spPr>
          <a:xfrm>
            <a:off x="201168" y="128016"/>
            <a:ext cx="5212080" cy="493776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GB" sz="3600" b="1" dirty="0">
                <a:solidFill>
                  <a:srgbClr val="111111"/>
                </a:solidFill>
                <a:latin typeface="Calibri"/>
              </a:rPr>
              <a:t>Trend Title</a:t>
            </a:r>
          </a:p>
        </p:txBody>
      </p:sp>
      <p:sp>
        <p:nvSpPr>
          <p:cNvPr id="21" name="StudentName"/>
          <p:cNvSpPr>
            <a:spLocks noGrp="1"/>
          </p:cNvSpPr>
          <p:nvPr/>
        </p:nvSpPr>
        <p:spPr>
          <a:xfrm>
            <a:off x="201168" y="62179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GB" sz="1600" b="1" dirty="0">
                <a:solidFill>
                  <a:srgbClr val="777777"/>
                </a:solidFill>
                <a:latin typeface="Calibri"/>
              </a:rPr>
              <a:t>Student Name</a:t>
            </a:r>
          </a:p>
        </p:txBody>
      </p:sp>
      <p:sp>
        <p:nvSpPr>
          <p:cNvPr id="30" name="Circle1"/>
          <p:cNvSpPr>
            <a:spLocks noGrp="1"/>
          </p:cNvSpPr>
          <p:nvPr/>
        </p:nvSpPr>
        <p:spPr>
          <a:xfrm>
            <a:off x="201168" y="914400"/>
            <a:ext cx="237744" cy="237744"/>
          </a:xfrm>
          <a:prstGeom prst="ellipse">
            <a:avLst/>
          </a:prstGeom>
          <a:solidFill>
            <a:srgbClr val="DDDDDD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200" b="1" dirty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80" name="Item1Text"/>
          <p:cNvSpPr>
            <a:spLocks noGrp="1"/>
          </p:cNvSpPr>
          <p:nvPr/>
        </p:nvSpPr>
        <p:spPr>
          <a:xfrm>
            <a:off x="530352" y="914400"/>
            <a:ext cx="4901184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GB" sz="1600" dirty="0">
                <a:solidFill>
                  <a:srgbClr val="111111"/>
                </a:solidFill>
                <a:latin typeface="Calibri"/>
              </a:rPr>
              <a:t>We are observing a growing shift in </a:t>
            </a:r>
            <a:r>
              <a:rPr lang="en-GB" sz="1600" b="1" dirty="0">
                <a:solidFill>
                  <a:srgbClr val="111111"/>
                </a:solidFill>
                <a:latin typeface="Calibri"/>
              </a:rPr>
              <a:t>[industry]</a:t>
            </a:r>
            <a:r>
              <a:rPr lang="en-GB" sz="1600" dirty="0">
                <a:solidFill>
                  <a:srgbClr val="111111"/>
                </a:solidFill>
                <a:latin typeface="Calibri"/>
              </a:rPr>
              <a:t>, where </a:t>
            </a:r>
            <a:r>
              <a:rPr lang="en-GB" sz="1600" b="1" dirty="0">
                <a:solidFill>
                  <a:srgbClr val="111111"/>
                </a:solidFill>
                <a:latin typeface="Calibri"/>
              </a:rPr>
              <a:t>[complete]</a:t>
            </a:r>
            <a:r>
              <a:rPr lang="en-GB" sz="1600" dirty="0">
                <a:solidFill>
                  <a:srgbClr val="111111"/>
                </a:solidFill>
                <a:latin typeface="Calibri"/>
              </a:rPr>
              <a:t> is becoming increasingly common among </a:t>
            </a:r>
            <a:r>
              <a:rPr lang="en-GB" sz="1600" b="1" dirty="0">
                <a:solidFill>
                  <a:srgbClr val="111111"/>
                </a:solidFill>
                <a:latin typeface="Calibri"/>
              </a:rPr>
              <a:t>[target user]</a:t>
            </a:r>
            <a:r>
              <a:rPr lang="en-GB" sz="1600" dirty="0">
                <a:solidFill>
                  <a:srgbClr val="111111"/>
                </a:solidFill>
                <a:latin typeface="Calibri"/>
              </a:rPr>
              <a:t>.</a:t>
            </a:r>
          </a:p>
        </p:txBody>
      </p:sp>
      <p:sp>
        <p:nvSpPr>
          <p:cNvPr id="31" name="Circle2"/>
          <p:cNvSpPr>
            <a:spLocks noGrp="1"/>
          </p:cNvSpPr>
          <p:nvPr/>
        </p:nvSpPr>
        <p:spPr>
          <a:xfrm>
            <a:off x="201168" y="2047011"/>
            <a:ext cx="237744" cy="237744"/>
          </a:xfrm>
          <a:prstGeom prst="ellipse">
            <a:avLst/>
          </a:prstGeom>
          <a:solidFill>
            <a:srgbClr val="DDDDDD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200" b="1" dirty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81" name="Item2Text"/>
          <p:cNvSpPr>
            <a:spLocks noGrp="1"/>
          </p:cNvSpPr>
          <p:nvPr/>
        </p:nvSpPr>
        <p:spPr>
          <a:xfrm>
            <a:off x="530352" y="2047011"/>
            <a:ext cx="4901184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28600" indent="-228600" algn="l">
              <a:buFont typeface="Arial"/>
              <a:buChar char="•"/>
            </a:pPr>
            <a:r>
              <a:rPr lang="en-GB" sz="1600" dirty="0">
                <a:solidFill>
                  <a:srgbClr val="111111"/>
                </a:solidFill>
                <a:latin typeface="Calibri"/>
              </a:rPr>
              <a:t>Data #1</a:t>
            </a:r>
          </a:p>
          <a:p>
            <a:pPr marL="228600" indent="-228600" algn="l">
              <a:buFont typeface="Arial"/>
              <a:buChar char="•"/>
            </a:pPr>
            <a:r>
              <a:rPr lang="en-GB" sz="1600" dirty="0">
                <a:solidFill>
                  <a:srgbClr val="111111"/>
                </a:solidFill>
                <a:latin typeface="Calibri"/>
              </a:rPr>
              <a:t>Data #2</a:t>
            </a:r>
          </a:p>
          <a:p>
            <a:pPr marL="228600" indent="-228600" algn="l">
              <a:buFont typeface="Arial"/>
              <a:buChar char="•"/>
            </a:pPr>
            <a:r>
              <a:rPr lang="en-GB" sz="1600" dirty="0">
                <a:solidFill>
                  <a:srgbClr val="111111"/>
                </a:solidFill>
                <a:latin typeface="Calibri"/>
              </a:rPr>
              <a:t>Data #3</a:t>
            </a:r>
          </a:p>
        </p:txBody>
      </p:sp>
      <p:sp>
        <p:nvSpPr>
          <p:cNvPr id="32" name="Circle3"/>
          <p:cNvSpPr>
            <a:spLocks noGrp="1"/>
          </p:cNvSpPr>
          <p:nvPr/>
        </p:nvSpPr>
        <p:spPr>
          <a:xfrm>
            <a:off x="201168" y="3580713"/>
            <a:ext cx="237744" cy="237744"/>
          </a:xfrm>
          <a:prstGeom prst="ellipse">
            <a:avLst/>
          </a:prstGeom>
          <a:solidFill>
            <a:srgbClr val="DDDDDD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200" b="1" dirty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82" name="Item3Text"/>
          <p:cNvSpPr>
            <a:spLocks noGrp="1"/>
          </p:cNvSpPr>
          <p:nvPr/>
        </p:nvSpPr>
        <p:spPr>
          <a:xfrm>
            <a:off x="530352" y="3580713"/>
            <a:ext cx="490118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GB" sz="1600" dirty="0">
                <a:solidFill>
                  <a:srgbClr val="111111"/>
                </a:solidFill>
                <a:latin typeface="Calibri"/>
              </a:rPr>
              <a:t>This shift is being driven by </a:t>
            </a:r>
            <a:r>
              <a:rPr lang="en-GB" sz="1600" b="1" dirty="0">
                <a:solidFill>
                  <a:srgbClr val="111111"/>
                </a:solidFill>
                <a:latin typeface="Calibri"/>
              </a:rPr>
              <a:t>[three drivers]</a:t>
            </a:r>
            <a:r>
              <a:rPr lang="en-GB" sz="1600" dirty="0">
                <a:solidFill>
                  <a:srgbClr val="111111"/>
                </a:solidFill>
                <a:latin typeface="Calibri"/>
              </a:rPr>
              <a:t>.</a:t>
            </a:r>
          </a:p>
        </p:txBody>
      </p:sp>
      <p:sp>
        <p:nvSpPr>
          <p:cNvPr id="33" name="Circle4"/>
          <p:cNvSpPr>
            <a:spLocks noGrp="1"/>
          </p:cNvSpPr>
          <p:nvPr/>
        </p:nvSpPr>
        <p:spPr>
          <a:xfrm>
            <a:off x="201168" y="4300182"/>
            <a:ext cx="237744" cy="237744"/>
          </a:xfrm>
          <a:prstGeom prst="ellipse">
            <a:avLst/>
          </a:prstGeom>
          <a:solidFill>
            <a:srgbClr val="DDDDDD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200" b="1" dirty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83" name="Item4Text"/>
          <p:cNvSpPr>
            <a:spLocks noGrp="1"/>
          </p:cNvSpPr>
          <p:nvPr/>
        </p:nvSpPr>
        <p:spPr>
          <a:xfrm>
            <a:off x="530352" y="4300182"/>
            <a:ext cx="4901184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GB" sz="1600" dirty="0">
                <a:solidFill>
                  <a:srgbClr val="111111"/>
                </a:solidFill>
                <a:latin typeface="Calibri"/>
              </a:rPr>
              <a:t>If this trend continues, we may see </a:t>
            </a:r>
            <a:r>
              <a:rPr lang="en-GB" sz="1600" b="1" dirty="0">
                <a:solidFill>
                  <a:srgbClr val="111111"/>
                </a:solidFill>
                <a:latin typeface="Calibri"/>
              </a:rPr>
              <a:t>[behavior/market/industry impact]</a:t>
            </a:r>
            <a:r>
              <a:rPr lang="en-GB" sz="1600" dirty="0">
                <a:solidFill>
                  <a:srgbClr val="111111"/>
                </a:solidFill>
                <a:latin typeface="Calibri"/>
              </a:rPr>
              <a:t>, leading to </a:t>
            </a:r>
            <a:r>
              <a:rPr lang="en-GB" sz="1600" b="1" dirty="0">
                <a:solidFill>
                  <a:srgbClr val="111111"/>
                </a:solidFill>
                <a:latin typeface="Calibri"/>
              </a:rPr>
              <a:t>[new risks, opportunities, etc]</a:t>
            </a:r>
            <a:r>
              <a:rPr lang="en-GB" sz="1600" dirty="0">
                <a:solidFill>
                  <a:srgbClr val="111111"/>
                </a:solidFill>
                <a:latin typeface="Calibri"/>
              </a:rPr>
              <a:t>.</a:t>
            </a:r>
          </a:p>
        </p:txBody>
      </p:sp>
      <p:sp>
        <p:nvSpPr>
          <p:cNvPr id="34" name="Circle5"/>
          <p:cNvSpPr>
            <a:spLocks noGrp="1"/>
          </p:cNvSpPr>
          <p:nvPr/>
        </p:nvSpPr>
        <p:spPr>
          <a:xfrm>
            <a:off x="201168" y="5401620"/>
            <a:ext cx="237744" cy="237744"/>
          </a:xfrm>
          <a:prstGeom prst="ellipse">
            <a:avLst/>
          </a:prstGeom>
          <a:solidFill>
            <a:srgbClr val="DDDDDD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200" b="1" dirty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84" name="Item5Text"/>
          <p:cNvSpPr>
            <a:spLocks noGrp="1"/>
          </p:cNvSpPr>
          <p:nvPr/>
        </p:nvSpPr>
        <p:spPr>
          <a:xfrm>
            <a:off x="530352" y="5401620"/>
            <a:ext cx="490118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GB" sz="1600" dirty="0">
                <a:solidFill>
                  <a:srgbClr val="111111"/>
                </a:solidFill>
                <a:latin typeface="Calibri"/>
              </a:rPr>
              <a:t>How might we help </a:t>
            </a:r>
            <a:r>
              <a:rPr lang="en-GB" sz="1600" b="1" dirty="0">
                <a:solidFill>
                  <a:srgbClr val="111111"/>
                </a:solidFill>
                <a:latin typeface="Calibri"/>
              </a:rPr>
              <a:t>[target user]</a:t>
            </a:r>
            <a:r>
              <a:rPr lang="en-GB" sz="1600" dirty="0">
                <a:solidFill>
                  <a:srgbClr val="111111"/>
                </a:solidFill>
                <a:latin typeface="Calibri"/>
              </a:rPr>
              <a:t> to </a:t>
            </a:r>
            <a:r>
              <a:rPr lang="en-GB" sz="1600" b="1" dirty="0">
                <a:solidFill>
                  <a:srgbClr val="111111"/>
                </a:solidFill>
                <a:latin typeface="Calibri"/>
              </a:rPr>
              <a:t>[need or goal]</a:t>
            </a:r>
            <a:r>
              <a:rPr lang="en-GB" sz="1600" dirty="0">
                <a:solidFill>
                  <a:srgbClr val="111111"/>
                </a:solidFill>
                <a:latin typeface="Calibri"/>
              </a:rPr>
              <a:t> given </a:t>
            </a:r>
            <a:r>
              <a:rPr lang="en-GB" sz="1600" b="1" dirty="0">
                <a:solidFill>
                  <a:srgbClr val="111111"/>
                </a:solidFill>
                <a:latin typeface="Calibri"/>
              </a:rPr>
              <a:t>[this trend]</a:t>
            </a:r>
            <a:r>
              <a:rPr lang="en-GB" sz="1600" dirty="0">
                <a:solidFill>
                  <a:srgbClr val="111111"/>
                </a:solidFill>
                <a:latin typeface="Calibri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97697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96CE4F1-735D-C94D-B18C-87FA69FF0FC9}">
  <we:reference id="wa200010001" version="1.0.0.0" store="en-US" storeType="OMEX"/>
  <we:alternateReferences>
    <we:reference id="wa200010001" version="1.0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96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Bhagat Sanjay, Rajas</cp:lastModifiedBy>
  <cp:revision>2</cp:revision>
  <dcterms:created xsi:type="dcterms:W3CDTF">2026-03-22T14:13:25Z</dcterms:created>
  <dcterms:modified xsi:type="dcterms:W3CDTF">2026-03-22T15:11:54Z</dcterms:modified>
</cp:coreProperties>
</file>